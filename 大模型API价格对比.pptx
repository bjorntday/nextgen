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大模型</a:t>
            </a:r>
            <a:r>
              <a:rPr lang="en-US" altLang="zh-CN"/>
              <a:t> API </a:t>
            </a:r>
            <a:r>
              <a:rPr lang="zh-CN" altLang="en-US"/>
              <a:t>价格对比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524000"/>
            <a:ext cx="10160000" cy="381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云能</a:t>
            </a:r>
            <a:r>
              <a:rPr lang="en-US" altLang="zh-CN"/>
              <a:t> vs </a:t>
            </a:r>
            <a:r>
              <a:rPr lang="zh-CN" altLang="en-US"/>
              <a:t>自建</a:t>
            </a:r>
            <a:r>
              <a:rPr lang="en-US" altLang="zh-CN"/>
              <a:t> vs </a:t>
            </a:r>
            <a:r>
              <a:rPr lang="zh-CN" altLang="en-US"/>
              <a:t>第三方</a:t>
            </a:r>
            <a:r>
              <a:rPr lang="en-US" altLang="zh-CN"/>
              <a:t>  |  </a:t>
            </a:r>
            <a:r>
              <a:rPr lang="zh-CN" altLang="en-US"/>
              <a:t>主流模型横向对比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62000" y="2032000"/>
            <a:ext cx="10160000" cy="381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数据来源</a:t>
            </a:r>
            <a:r>
              <a:rPr lang="en-US" altLang="zh-CN"/>
              <a:t>: </a:t>
            </a:r>
            <a:r>
              <a:rPr lang="zh-CN" altLang="en-US"/>
              <a:t>移动云</a:t>
            </a:r>
            <a:r>
              <a:rPr lang="en-US" altLang="zh-CN"/>
              <a:t> / </a:t>
            </a:r>
            <a:r>
              <a:rPr lang="zh-CN" altLang="en-US"/>
              <a:t>附件《百万</a:t>
            </a:r>
            <a:r>
              <a:rPr lang="en-US" altLang="zh-CN"/>
              <a:t>Token</a:t>
            </a:r>
            <a:r>
              <a:rPr lang="zh-CN" altLang="en-US"/>
              <a:t>成本测算表</a:t>
            </a:r>
            <a:r>
              <a:rPr lang="en-US" altLang="zh-CN"/>
              <a:t>v2.2</a:t>
            </a:r>
            <a:r>
              <a:rPr lang="zh-CN" altLang="en-US"/>
              <a:t>》</a:t>
            </a:r>
            <a:r>
              <a:rPr lang="en-US" altLang="zh-CN"/>
              <a:t>/ </a:t>
            </a:r>
            <a:r>
              <a:rPr lang="zh-CN" altLang="en-US"/>
              <a:t>各模型官网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81000" y="190500"/>
            <a:ext cx="11684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200" b="1"/>
              <a:t>主流大模型</a:t>
            </a:r>
            <a:r>
              <a:rPr lang="en-US" altLang="zh-CN" sz="2200" b="1"/>
              <a:t> API </a:t>
            </a:r>
            <a:r>
              <a:rPr lang="zh-CN" altLang="en-US" sz="2200" b="1"/>
              <a:t>价格对比</a:t>
            </a:r>
            <a:r>
              <a:rPr lang="en-US" altLang="zh-CN" sz="2200" b="1"/>
              <a:t> (</a:t>
            </a:r>
            <a:r>
              <a:rPr lang="zh-CN" altLang="en-US" sz="2200" b="1"/>
              <a:t>单位</a:t>
            </a:r>
            <a:r>
              <a:rPr lang="en-US" altLang="zh-CN" sz="2200" b="1"/>
              <a:t>: </a:t>
            </a:r>
            <a:r>
              <a:rPr lang="zh-CN" altLang="en-US" sz="2200" b="1"/>
              <a:t>元</a:t>
            </a:r>
            <a:r>
              <a:rPr lang="en-US" altLang="zh-CN" sz="2200" b="1"/>
              <a:t> / </a:t>
            </a:r>
            <a:r>
              <a:rPr lang="zh-CN" altLang="en-US" sz="2200" b="1"/>
              <a:t>百万</a:t>
            </a:r>
            <a:r>
              <a:rPr lang="en-US" altLang="zh-CN" sz="2200" b="1"/>
              <a:t> Tokens)</a:t>
            </a:r>
            <a:endParaRPr lang="en-US" altLang="zh-CN" sz="2200" b="1"/>
          </a:p>
        </p:txBody>
      </p:sp>
      <p:graphicFrame>
        <p:nvGraphicFramePr>
          <p:cNvPr id="4" name="表格 3"/>
          <p:cNvGraphicFramePr/>
          <p:nvPr/>
        </p:nvGraphicFramePr>
        <p:xfrm>
          <a:off x="381000" y="825500"/>
          <a:ext cx="11684000" cy="5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/>
                <a:gridCol w="2286000"/>
                <a:gridCol w="2413000"/>
                <a:gridCol w="3302000"/>
                <a:gridCol w="2286000"/>
              </a:tblGrid>
              <a:tr h="72517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</a:rPr>
                        <a:t>模型</a:t>
                      </a:r>
                      <a:endParaRPr lang="zh-CN" altLang="en-US"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</a:rPr>
                        <a:t>移动云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</a:rPr>
                        <a:t> [</a:t>
                      </a:r>
                      <a:r>
                        <a:rPr lang="zh-CN" altLang="en-US" sz="1200" b="1">
                          <a:solidFill>
                            <a:srgbClr val="FFFFFF"/>
                          </a:solidFill>
                        </a:rPr>
                        <a:t>云能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</a:rPr>
                        <a:t>]</a:t>
                      </a:r>
                      <a:endParaRPr lang="en-US" altLang="zh-CN"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</a:rPr>
                        <a:t>自建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zh-CN" altLang="en-US" sz="1200" b="1">
                          <a:solidFill>
                            <a:srgbClr val="FFFFFF"/>
                          </a:solidFill>
                        </a:rPr>
                        <a:t>最优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</a:rPr>
                        <a:t>-</a:t>
                      </a:r>
                      <a:r>
                        <a:rPr lang="zh-CN" altLang="en-US" sz="1200" b="1">
                          <a:solidFill>
                            <a:srgbClr val="FFFFFF"/>
                          </a:solidFill>
                        </a:rPr>
                        <a:t>最劣</a:t>
                      </a:r>
                      <a:endParaRPr lang="zh-CN" altLang="en-US"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</a:rPr>
                        <a:t>第三方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zh-CN" altLang="en-US" sz="1200" b="1">
                          <a:solidFill>
                            <a:srgbClr val="FFFFFF"/>
                          </a:solidFill>
                        </a:rPr>
                        <a:t>官方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</a:rPr>
                        <a:t>API</a:t>
                      </a:r>
                      <a:endParaRPr lang="en-US" altLang="zh-CN"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</a:rPr>
                        <a:t>数据来源</a:t>
                      </a:r>
                      <a:endParaRPr lang="zh-CN" altLang="en-US"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7251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1"/>
                        <a:t>MiniMax2.5</a:t>
                      </a:r>
                      <a:endParaRPr lang="en-US" altLang="en-US" sz="1000" b="1"/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暂未抓取</a:t>
                      </a:r>
                      <a:r>
                        <a:rPr lang="en-US" altLang="zh-CN" sz="1000"/>
                        <a:t> [JS</a:t>
                      </a:r>
                      <a:r>
                        <a:rPr lang="zh-CN" altLang="en-US" sz="1000"/>
                        <a:t>渲染</a:t>
                      </a:r>
                      <a:r>
                        <a:rPr lang="en-US" altLang="zh-CN" sz="1000"/>
                        <a:t>]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/>
                        <a:t>0.85 ~ 1.46</a:t>
                      </a:r>
                      <a:endParaRPr lang="en-US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/>
                        <a:t>MiniMax-M2.5: </a:t>
                      </a:r>
                      <a:r>
                        <a:rPr lang="zh-CN" altLang="en-US" sz="1000"/>
                        <a:t>入</a:t>
                      </a:r>
                      <a:r>
                        <a:rPr lang="en-US" altLang="zh-CN" sz="1000"/>
                        <a:t>2.10 / </a:t>
                      </a:r>
                      <a:r>
                        <a:rPr lang="zh-CN" altLang="en-US" sz="1000"/>
                        <a:t>出</a:t>
                      </a:r>
                      <a:r>
                        <a:rPr lang="en-US" altLang="zh-CN" sz="1000"/>
                        <a:t>8.40 / </a:t>
                      </a:r>
                      <a:r>
                        <a:rPr lang="zh-CN" altLang="en-US" sz="1000"/>
                        <a:t>缓存读</a:t>
                      </a:r>
                      <a:r>
                        <a:rPr lang="en-US" altLang="zh-CN" sz="1000"/>
                        <a:t>0.21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/>
                        <a:t>platform.minimaxi.com</a:t>
                      </a:r>
                      <a:endParaRPr lang="en-US" altLang="en-US" sz="1000"/>
                    </a:p>
                  </a:txBody>
                  <a:tcPr/>
                </a:tc>
              </a:tr>
              <a:tr h="7251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1"/>
                        <a:t>GLM5</a:t>
                      </a:r>
                      <a:endParaRPr lang="en-US" altLang="en-US" sz="1000" b="1"/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暂未抓取</a:t>
                      </a:r>
                      <a:r>
                        <a:rPr lang="en-US" altLang="zh-CN" sz="1000"/>
                        <a:t> [JS</a:t>
                      </a:r>
                      <a:r>
                        <a:rPr lang="zh-CN" altLang="en-US" sz="1000"/>
                        <a:t>渲染</a:t>
                      </a:r>
                      <a:r>
                        <a:rPr lang="en-US" altLang="zh-CN" sz="1000"/>
                        <a:t>]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/>
                        <a:t>0.85 ~ 16.45</a:t>
                      </a:r>
                      <a:endParaRPr lang="en-US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/>
                        <a:t>GLM-5.1: </a:t>
                      </a:r>
                      <a:r>
                        <a:rPr lang="zh-CN" altLang="en-US" sz="1000"/>
                        <a:t>约入</a:t>
                      </a:r>
                      <a:r>
                        <a:rPr lang="en-US" altLang="zh-CN" sz="1000"/>
                        <a:t>4 / </a:t>
                      </a:r>
                      <a:r>
                        <a:rPr lang="zh-CN" altLang="en-US" sz="1000"/>
                        <a:t>出</a:t>
                      </a:r>
                      <a:r>
                        <a:rPr lang="en-US" altLang="zh-CN" sz="1000"/>
                        <a:t>16 [</a:t>
                      </a:r>
                      <a:r>
                        <a:rPr lang="zh-CN" altLang="en-US" sz="1000"/>
                        <a:t>官网</a:t>
                      </a:r>
                      <a:r>
                        <a:rPr lang="en-US" altLang="zh-CN" sz="1000"/>
                        <a:t>JS</a:t>
                      </a:r>
                      <a:r>
                        <a:rPr lang="zh-CN" altLang="en-US" sz="1000"/>
                        <a:t>渲染</a:t>
                      </a:r>
                      <a:r>
                        <a:rPr lang="en-US" altLang="zh-CN" sz="1000"/>
                        <a:t>]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/>
                        <a:t>open.bigmodel.cn</a:t>
                      </a:r>
                      <a:endParaRPr lang="en-US" altLang="en-US" sz="1000"/>
                    </a:p>
                  </a:txBody>
                  <a:tcPr/>
                </a:tc>
              </a:tr>
              <a:tr h="7251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1"/>
                        <a:t>Kimi-2.5</a:t>
                      </a:r>
                      <a:endParaRPr lang="en-US" altLang="en-US" sz="1000" b="1"/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暂未抓取</a:t>
                      </a:r>
                      <a:r>
                        <a:rPr lang="en-US" altLang="zh-CN" sz="1000"/>
                        <a:t> [JS</a:t>
                      </a:r>
                      <a:r>
                        <a:rPr lang="zh-CN" altLang="en-US" sz="1000"/>
                        <a:t>渲染</a:t>
                      </a:r>
                      <a:r>
                        <a:rPr lang="en-US" altLang="zh-CN" sz="1000"/>
                        <a:t>]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/>
                        <a:t>2.34 ~ 4.74</a:t>
                      </a:r>
                      <a:endParaRPr lang="en-US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/>
                        <a:t>kimi-k2.6: </a:t>
                      </a:r>
                      <a:r>
                        <a:rPr lang="zh-CN" altLang="en-US" sz="1000"/>
                        <a:t>缓存命中</a:t>
                      </a:r>
                      <a:r>
                        <a:rPr lang="en-US" altLang="zh-CN" sz="1000"/>
                        <a:t>1.10 / </a:t>
                      </a:r>
                      <a:r>
                        <a:rPr lang="zh-CN" altLang="en-US" sz="1000"/>
                        <a:t>未命中</a:t>
                      </a:r>
                      <a:r>
                        <a:rPr lang="en-US" altLang="zh-CN" sz="1000"/>
                        <a:t>6.50 / </a:t>
                      </a:r>
                      <a:r>
                        <a:rPr lang="zh-CN" altLang="en-US" sz="1000"/>
                        <a:t>出</a:t>
                      </a:r>
                      <a:r>
                        <a:rPr lang="en-US" altLang="zh-CN" sz="1000"/>
                        <a:t>27.00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/>
                        <a:t>platform.kimi.com</a:t>
                      </a:r>
                      <a:endParaRPr lang="en-US" altLang="en-US" sz="1000"/>
                    </a:p>
                  </a:txBody>
                  <a:tcPr/>
                </a:tc>
              </a:tr>
              <a:tr h="7251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1"/>
                        <a:t>Qwen3.5-27B</a:t>
                      </a:r>
                      <a:endParaRPr lang="en-US" altLang="en-US" sz="1000" b="1"/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暂未抓取</a:t>
                      </a:r>
                      <a:r>
                        <a:rPr lang="en-US" altLang="zh-CN" sz="1000"/>
                        <a:t> [JS</a:t>
                      </a:r>
                      <a:r>
                        <a:rPr lang="zh-CN" altLang="en-US" sz="1000"/>
                        <a:t>渲染</a:t>
                      </a:r>
                      <a:r>
                        <a:rPr lang="en-US" altLang="zh-CN" sz="1000"/>
                        <a:t>]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/>
                        <a:t>0.23 ~ 1.48</a:t>
                      </a:r>
                      <a:endParaRPr lang="en-US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/>
                        <a:t>Qwen3.5</a:t>
                      </a:r>
                      <a:r>
                        <a:rPr lang="zh-CN" altLang="en-US" sz="1000"/>
                        <a:t>系列</a:t>
                      </a:r>
                      <a:r>
                        <a:rPr lang="en-US" altLang="zh-CN" sz="1000"/>
                        <a:t>: </a:t>
                      </a:r>
                      <a:r>
                        <a:rPr lang="zh-CN" altLang="en-US" sz="1000"/>
                        <a:t>约入</a:t>
                      </a:r>
                      <a:r>
                        <a:rPr lang="en-US" altLang="zh-CN" sz="1000"/>
                        <a:t>0.6-2 / </a:t>
                      </a:r>
                      <a:r>
                        <a:rPr lang="zh-CN" altLang="en-US" sz="1000"/>
                        <a:t>出</a:t>
                      </a:r>
                      <a:r>
                        <a:rPr lang="en-US" altLang="zh-CN" sz="1000"/>
                        <a:t>2-6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/>
                        <a:t>help.aliyun.com</a:t>
                      </a:r>
                      <a:endParaRPr lang="en-US" altLang="en-US" sz="1000"/>
                    </a:p>
                  </a:txBody>
                  <a:tcPr/>
                </a:tc>
              </a:tr>
              <a:tr h="725170">
                <a:tc gridSpan="5">
                  <a:txBody>
                    <a:bodyPr/>
                    <a:p>
                      <a:pPr>
                        <a:buNone/>
                      </a:pPr>
                      <a:r>
                        <a:rPr lang="zh-CN" altLang="en-US" sz="900" b="1" i="1"/>
                        <a:t>单位</a:t>
                      </a:r>
                      <a:r>
                        <a:rPr lang="en-US" altLang="zh-CN" sz="900" b="1" i="1"/>
                        <a:t>: </a:t>
                      </a:r>
                      <a:r>
                        <a:rPr lang="zh-CN" altLang="en-US" sz="900" b="1" i="1"/>
                        <a:t>元</a:t>
                      </a:r>
                      <a:r>
                        <a:rPr lang="en-US" altLang="zh-CN" sz="900" b="1" i="1"/>
                        <a:t>/</a:t>
                      </a:r>
                      <a:r>
                        <a:rPr lang="zh-CN" altLang="en-US" sz="900" b="1" i="1"/>
                        <a:t>百万</a:t>
                      </a:r>
                      <a:r>
                        <a:rPr lang="en-US" altLang="zh-CN" sz="900" b="1" i="1"/>
                        <a:t>Tokens</a:t>
                      </a:r>
                      <a:r>
                        <a:rPr lang="zh-CN" altLang="en-US" sz="900" b="1" i="1"/>
                        <a:t>。自建列基于《百万</a:t>
                      </a:r>
                      <a:r>
                        <a:rPr lang="en-US" altLang="zh-CN" sz="900" b="1" i="1"/>
                        <a:t>Token</a:t>
                      </a:r>
                      <a:r>
                        <a:rPr lang="zh-CN" altLang="en-US" sz="900" b="1" i="1"/>
                        <a:t>成本测算表</a:t>
                      </a:r>
                      <a:r>
                        <a:rPr lang="en-US" altLang="zh-CN" sz="900" b="1" i="1"/>
                        <a:t>v2.2</a:t>
                      </a:r>
                      <a:r>
                        <a:rPr lang="zh-CN" altLang="en-US" sz="900" b="1" i="1"/>
                        <a:t>》</a:t>
                      </a:r>
                      <a:r>
                        <a:rPr lang="en-US" altLang="zh-CN" sz="900" b="1" i="1"/>
                        <a:t> [</a:t>
                      </a:r>
                      <a:r>
                        <a:rPr lang="zh-CN" altLang="en-US" sz="900" b="1" i="1"/>
                        <a:t>昇腾</a:t>
                      </a:r>
                      <a:r>
                        <a:rPr lang="en-US" altLang="zh-CN" sz="900" b="1" i="1"/>
                        <a:t>Atlas, </a:t>
                      </a:r>
                      <a:r>
                        <a:rPr lang="zh-CN" altLang="en-US" sz="900" b="1" i="1"/>
                        <a:t>浙江电费</a:t>
                      </a:r>
                      <a:r>
                        <a:rPr lang="en-US" altLang="zh-CN" sz="900" b="1" i="1"/>
                        <a:t>0.6</a:t>
                      </a:r>
                      <a:r>
                        <a:rPr lang="zh-CN" altLang="en-US" sz="900" b="1" i="1"/>
                        <a:t>元</a:t>
                      </a:r>
                      <a:r>
                        <a:rPr lang="en-US" altLang="zh-CN" sz="900" b="1" i="1"/>
                        <a:t>/</a:t>
                      </a:r>
                      <a:r>
                        <a:rPr lang="zh-CN" altLang="en-US" sz="900" b="1" i="1"/>
                        <a:t>度</a:t>
                      </a:r>
                      <a:r>
                        <a:rPr lang="en-US" altLang="zh-CN" sz="900" b="1" i="1"/>
                        <a:t>], </a:t>
                      </a:r>
                      <a:r>
                        <a:rPr lang="zh-CN" altLang="en-US" sz="900" b="1" i="1"/>
                        <a:t>区间随部署规模</a:t>
                      </a:r>
                      <a:r>
                        <a:rPr lang="en-US" altLang="zh-CN" sz="900" b="1" i="1"/>
                        <a:t>/</a:t>
                      </a:r>
                      <a:r>
                        <a:rPr lang="zh-CN" altLang="en-US" sz="900" b="1" i="1"/>
                        <a:t>输入长度</a:t>
                      </a:r>
                      <a:r>
                        <a:rPr lang="en-US" altLang="zh-CN" sz="900" b="1" i="1"/>
                        <a:t>/</a:t>
                      </a:r>
                      <a:r>
                        <a:rPr lang="zh-CN" altLang="en-US" sz="900" b="1" i="1"/>
                        <a:t>缓存命中率变化</a:t>
                      </a:r>
                      <a:r>
                        <a:rPr lang="en-US" altLang="zh-CN" sz="900" b="1" i="1"/>
                        <a:t>; </a:t>
                      </a:r>
                      <a:r>
                        <a:rPr lang="zh-CN" altLang="en-US" sz="900" b="1" i="1"/>
                        <a:t>第三方列引用各模型官网按量</a:t>
                      </a:r>
                      <a:r>
                        <a:rPr lang="en-US" altLang="zh-CN" sz="900" b="1" i="1"/>
                        <a:t>API</a:t>
                      </a:r>
                      <a:r>
                        <a:rPr lang="zh-CN" altLang="en-US" sz="900" b="1" i="1"/>
                        <a:t>价</a:t>
                      </a:r>
                      <a:r>
                        <a:rPr lang="en-US" altLang="zh-CN" sz="900" b="1" i="1"/>
                        <a:t> [</a:t>
                      </a:r>
                      <a:r>
                        <a:rPr lang="zh-CN" altLang="en-US" sz="900" b="1" i="1"/>
                        <a:t>未含订阅套餐</a:t>
                      </a:r>
                      <a:r>
                        <a:rPr lang="en-US" altLang="zh-CN" sz="900" b="1" i="1"/>
                        <a:t>].</a:t>
                      </a:r>
                      <a:endParaRPr lang="en-US" altLang="zh-CN" sz="900" b="1" i="1"/>
                    </a:p>
                  </a:txBody>
                  <a:tcP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72517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81000" y="6096000"/>
            <a:ext cx="11684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900" i="1"/>
              <a:t>移动云数据来源</a:t>
            </a:r>
            <a:r>
              <a:rPr lang="en-US" altLang="zh-CN" sz="900" i="1"/>
              <a:t>: ecloud.10086.cn/op-help-center/doc/article/91592  [</a:t>
            </a:r>
            <a:r>
              <a:rPr lang="zh-CN" altLang="en-US" sz="900" i="1"/>
              <a:t>该页需</a:t>
            </a:r>
            <a:r>
              <a:rPr lang="en-US" altLang="zh-CN" sz="900" i="1"/>
              <a:t>JS</a:t>
            </a:r>
            <a:r>
              <a:rPr lang="zh-CN" altLang="en-US" sz="900" i="1"/>
              <a:t>渲染</a:t>
            </a:r>
            <a:r>
              <a:rPr lang="en-US" altLang="zh-CN" sz="900" i="1"/>
              <a:t>, </a:t>
            </a:r>
            <a:r>
              <a:rPr lang="zh-CN" altLang="en-US" sz="900" i="1"/>
              <a:t>请在浏览器中打开手动补充</a:t>
            </a:r>
            <a:r>
              <a:rPr lang="en-US" altLang="zh-CN" sz="900" i="1"/>
              <a:t>]</a:t>
            </a:r>
            <a:endParaRPr lang="en-US" altLang="zh-CN" sz="900" i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1099</Words>
  <Application>WPS 演示</Application>
  <PresentationFormat>宽屏</PresentationFormat>
  <Paragraphs>70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BJ</dc:creator>
  <cp:lastModifiedBy>鲍捷</cp:lastModifiedBy>
  <cp:revision>157</cp:revision>
  <dcterms:created xsi:type="dcterms:W3CDTF">2019-06-19T02:08:00Z</dcterms:created>
  <dcterms:modified xsi:type="dcterms:W3CDTF">2026-06-04T03:36:57Z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D64ED30BC09F45D982539E91FCDBABFC_11</vt:lpwstr>
  </property>
</Properties>
</file>